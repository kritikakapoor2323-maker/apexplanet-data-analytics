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4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Electronics</c:v>
                </c:pt>
                <c:pt idx="1">
                  <c:v>Home &amp; Kitchen</c:v>
                </c:pt>
                <c:pt idx="2">
                  <c:v>Sports</c:v>
                </c:pt>
                <c:pt idx="3">
                  <c:v>Clothing</c:v>
                </c:pt>
                <c:pt idx="4">
                  <c:v>Beauty</c:v>
                </c:pt>
                <c:pt idx="5">
                  <c:v>Toys</c:v>
                </c:pt>
                <c:pt idx="6">
                  <c:v>Books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573694</c:v>
                </c:pt>
                <c:pt idx="1">
                  <c:v>209756</c:v>
                </c:pt>
                <c:pt idx="2">
                  <c:v>111517</c:v>
                </c:pt>
                <c:pt idx="3">
                  <c:v>107868</c:v>
                </c:pt>
                <c:pt idx="4">
                  <c:v>45159</c:v>
                </c:pt>
                <c:pt idx="5">
                  <c:v>43537</c:v>
                </c:pt>
                <c:pt idx="6">
                  <c:v>18403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D8-4B01-9F8F-B5E1B4FDA4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21295C"/>
                </a:solidFill>
                <a:latin typeface="Arial"/>
              </a:rPr>
              <a:t>Orders by Category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0EF-458E-85A8-7907CB26EF7A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EF-458E-85A8-7907CB26EF7A}"/>
              </c:ext>
            </c:extLst>
          </c:dPt>
          <c:dPt>
            <c:idx val="2"/>
            <c:bubble3D val="0"/>
            <c:spPr>
              <a:solidFill>
                <a:srgbClr val="3E8F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EF-458E-85A8-7907CB26EF7A}"/>
              </c:ext>
            </c:extLst>
          </c:dPt>
          <c:dPt>
            <c:idx val="3"/>
            <c:bubble3D val="0"/>
            <c:spPr>
              <a:solidFill>
                <a:srgbClr val="6BAE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0EF-458E-85A8-7907CB26EF7A}"/>
              </c:ext>
            </c:extLst>
          </c:dPt>
          <c:dPt>
            <c:idx val="4"/>
            <c:bubble3D val="0"/>
            <c:spPr>
              <a:solidFill>
                <a:srgbClr val="9ECA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0EF-458E-85A8-7907CB26EF7A}"/>
              </c:ext>
            </c:extLst>
          </c:dPt>
          <c:dPt>
            <c:idx val="5"/>
            <c:bubble3D val="0"/>
            <c:spPr>
              <a:solidFill>
                <a:srgbClr val="C6DB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0EF-458E-85A8-7907CB26EF7A}"/>
              </c:ext>
            </c:extLst>
          </c:dPt>
          <c:dPt>
            <c:idx val="6"/>
            <c:bubble3D val="0"/>
            <c:spPr>
              <a:solidFill>
                <a:srgbClr val="CFE8F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0EF-458E-85A8-7907CB26EF7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0EF-458E-85A8-7907CB26EF7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0EF-458E-85A8-7907CB26EF7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0EF-458E-85A8-7907CB26EF7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0EF-458E-85A8-7907CB26EF7A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0EF-458E-85A8-7907CB26EF7A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0EF-458E-85A8-7907CB26EF7A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0EF-458E-85A8-7907CB26EF7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Electronics</c:v>
                </c:pt>
                <c:pt idx="1">
                  <c:v>Clothing</c:v>
                </c:pt>
                <c:pt idx="2">
                  <c:v>Home &amp; Kitchen</c:v>
                </c:pt>
                <c:pt idx="3">
                  <c:v>Beauty</c:v>
                </c:pt>
                <c:pt idx="4">
                  <c:v>Sports</c:v>
                </c:pt>
                <c:pt idx="5">
                  <c:v>Toys</c:v>
                </c:pt>
                <c:pt idx="6">
                  <c:v>Books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1062</c:v>
                </c:pt>
                <c:pt idx="1">
                  <c:v>975</c:v>
                </c:pt>
                <c:pt idx="2">
                  <c:v>775</c:v>
                </c:pt>
                <c:pt idx="3">
                  <c:v>585</c:v>
                </c:pt>
                <c:pt idx="4">
                  <c:v>581</c:v>
                </c:pt>
                <c:pt idx="5">
                  <c:v>491</c:v>
                </c:pt>
                <c:pt idx="6">
                  <c:v>395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0EF-458E-85A8-7907CB26EF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B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Arial"/>
              </a:rPr>
              <a:t>Revenue by Region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A24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Central</c:v>
                </c:pt>
                <c:pt idx="1">
                  <c:v>South</c:v>
                </c:pt>
                <c:pt idx="2">
                  <c:v>North</c:v>
                </c:pt>
                <c:pt idx="3">
                  <c:v>West</c:v>
                </c:pt>
                <c:pt idx="4">
                  <c:v>East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243675</c:v>
                </c:pt>
                <c:pt idx="1">
                  <c:v>224695</c:v>
                </c:pt>
                <c:pt idx="2">
                  <c:v>224631</c:v>
                </c:pt>
                <c:pt idx="3">
                  <c:v>212402</c:v>
                </c:pt>
                <c:pt idx="4">
                  <c:v>204530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E8-4438-B164-87F9C5791D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($)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Jan-24</c:v>
                </c:pt>
                <c:pt idx="1">
                  <c:v>Feb-24</c:v>
                </c:pt>
                <c:pt idx="2">
                  <c:v>Mar-24</c:v>
                </c:pt>
                <c:pt idx="3">
                  <c:v>Apr-24</c:v>
                </c:pt>
                <c:pt idx="4">
                  <c:v>May-24</c:v>
                </c:pt>
                <c:pt idx="5">
                  <c:v>Jun-24</c:v>
                </c:pt>
                <c:pt idx="6">
                  <c:v>Jul-24</c:v>
                </c:pt>
                <c:pt idx="7">
                  <c:v>Aug-24</c:v>
                </c:pt>
                <c:pt idx="8">
                  <c:v>Sep-24</c:v>
                </c:pt>
                <c:pt idx="9">
                  <c:v>Oct-24</c:v>
                </c:pt>
                <c:pt idx="10">
                  <c:v>Nov-24</c:v>
                </c:pt>
                <c:pt idx="11">
                  <c:v>Dec-24</c:v>
                </c:pt>
                <c:pt idx="12">
                  <c:v>Jan-25</c:v>
                </c:pt>
                <c:pt idx="13">
                  <c:v>Feb-25</c:v>
                </c:pt>
                <c:pt idx="14">
                  <c:v>Mar-25</c:v>
                </c:pt>
                <c:pt idx="15">
                  <c:v>Apr-25</c:v>
                </c:pt>
                <c:pt idx="16">
                  <c:v>May-25</c:v>
                </c:pt>
                <c:pt idx="17">
                  <c:v>Jun-25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56516</c:v>
                </c:pt>
                <c:pt idx="1">
                  <c:v>59327</c:v>
                </c:pt>
                <c:pt idx="2">
                  <c:v>68070</c:v>
                </c:pt>
                <c:pt idx="3">
                  <c:v>62936</c:v>
                </c:pt>
                <c:pt idx="4">
                  <c:v>62293</c:v>
                </c:pt>
                <c:pt idx="5">
                  <c:v>62733</c:v>
                </c:pt>
                <c:pt idx="6">
                  <c:v>56419</c:v>
                </c:pt>
                <c:pt idx="7">
                  <c:v>69152</c:v>
                </c:pt>
                <c:pt idx="8">
                  <c:v>62082</c:v>
                </c:pt>
                <c:pt idx="9">
                  <c:v>63824</c:v>
                </c:pt>
                <c:pt idx="10">
                  <c:v>60801</c:v>
                </c:pt>
                <c:pt idx="11">
                  <c:v>60759</c:v>
                </c:pt>
                <c:pt idx="12">
                  <c:v>51248</c:v>
                </c:pt>
                <c:pt idx="13">
                  <c:v>60572</c:v>
                </c:pt>
                <c:pt idx="14">
                  <c:v>60019</c:v>
                </c:pt>
                <c:pt idx="15">
                  <c:v>59722</c:v>
                </c:pt>
                <c:pt idx="16">
                  <c:v>69677</c:v>
                </c:pt>
                <c:pt idx="17">
                  <c:v>63785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ED2-4A6D-BD3E-0B6452721E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21295C"/>
                </a:solidFill>
                <a:latin typeface="Arial"/>
              </a:rPr>
              <a:t>Payment Method Share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C0E-4E10-B2F1-DA8D63095063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C0E-4E10-B2F1-DA8D63095063}"/>
              </c:ext>
            </c:extLst>
          </c:dPt>
          <c:dPt>
            <c:idx val="2"/>
            <c:bubble3D val="0"/>
            <c:spPr>
              <a:solidFill>
                <a:srgbClr val="3E8F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C0E-4E10-B2F1-DA8D63095063}"/>
              </c:ext>
            </c:extLst>
          </c:dPt>
          <c:dPt>
            <c:idx val="3"/>
            <c:bubble3D val="0"/>
            <c:spPr>
              <a:solidFill>
                <a:srgbClr val="9ECA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C0E-4E10-B2F1-DA8D63095063}"/>
              </c:ext>
            </c:extLst>
          </c:dPt>
          <c:dPt>
            <c:idx val="4"/>
            <c:bubble3D val="0"/>
            <c:spPr>
              <a:solidFill>
                <a:srgbClr val="CFE8F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C0E-4E10-B2F1-DA8D6309506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C0E-4E10-B2F1-DA8D6309506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C0E-4E10-B2F1-DA8D6309506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C0E-4E10-B2F1-DA8D6309506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C0E-4E10-B2F1-DA8D6309506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C0E-4E10-B2F1-DA8D6309506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Credit Card</c:v>
                </c:pt>
                <c:pt idx="1">
                  <c:v>UPI</c:v>
                </c:pt>
                <c:pt idx="2">
                  <c:v>Debit Card</c:v>
                </c:pt>
                <c:pt idx="3">
                  <c:v>Cash on Delivery</c:v>
                </c:pt>
                <c:pt idx="4">
                  <c:v>Net Banking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35.1</c:v>
                </c:pt>
                <c:pt idx="1">
                  <c:v>25</c:v>
                </c:pt>
                <c:pt idx="2">
                  <c:v>20.3</c:v>
                </c:pt>
                <c:pt idx="3">
                  <c:v>10.199999999999999</c:v>
                </c:pt>
                <c:pt idx="4">
                  <c:v>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C0E-4E10-B2F1-DA8D630950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B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16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93192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" y="91668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·  FOUNDATIONAL SETUP &amp; EDA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Sales Dataset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Walkthrough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Kritika kapoor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4,864 orders analyzed   ·   1,690 customers   ·   Jan 2024 – Jun 2025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objective: set up the analytics environment, understand the data source, clean it, and surface initial insights.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331720"/>
            <a:ext cx="685800" cy="68580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630" y="250317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46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Dataset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3703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came from, what it contains, and its scope.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4408" y="196596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55948" y="2331720"/>
            <a:ext cx="685800" cy="68580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398" y="250317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1568" y="3246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Cleaning It Up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01568" y="3703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wrong types, and outliers.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80176" y="196596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71716" y="2331720"/>
            <a:ext cx="685800" cy="68580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3166" y="250317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17336" y="3246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Exploring the Data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117336" y="3703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and bivariate patterns across the dataset.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695944" y="196596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87484" y="2331720"/>
            <a:ext cx="685800" cy="68580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8934" y="250317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33104" y="3246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Key Findings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833104" y="3703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 about revenue, customers, and behavior.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· Task 1 — E-commerce Sales EDA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order-level e-commerce sales dataset spanning 18 months across 7 product categories and 5 regions.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400300"/>
            <a:ext cx="868680" cy="86868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261747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219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4,864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78308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(cleaned)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2400300"/>
            <a:ext cx="868680" cy="86868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450" y="261747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22219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1,690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553212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9659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2400300"/>
            <a:ext cx="868680" cy="86868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490" y="261747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81160" y="22219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$1.11M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928116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411980"/>
            <a:ext cx="868680" cy="86868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410" y="4629150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2336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1783080" y="4846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411980"/>
            <a:ext cx="868680" cy="86868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450" y="4629150"/>
            <a:ext cx="434340" cy="4343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32120" y="42336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$228</a:t>
            </a:r>
            <a:endParaRPr lang="en-US" sz="2600" dirty="0"/>
          </a:p>
        </p:txBody>
      </p:sp>
      <p:sp>
        <p:nvSpPr>
          <p:cNvPr id="28" name="Text 21"/>
          <p:cNvSpPr/>
          <p:nvPr/>
        </p:nvSpPr>
        <p:spPr>
          <a:xfrm>
            <a:off x="5532120" y="4846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977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4411980"/>
            <a:ext cx="868680" cy="86868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2490" y="4629150"/>
            <a:ext cx="434340" cy="4343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81160" y="42336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mo.</a:t>
            </a:r>
            <a:endParaRPr lang="en-US" sz="2600" dirty="0"/>
          </a:p>
        </p:txBody>
      </p:sp>
      <p:sp>
        <p:nvSpPr>
          <p:cNvPr id="33" name="Text 25"/>
          <p:cNvSpPr/>
          <p:nvPr/>
        </p:nvSpPr>
        <p:spPr>
          <a:xfrm>
            <a:off x="9281160" y="4846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2024 – Jun 2025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· Task 1 — E-commerce Sales EDA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&amp; Structure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309360" cy="40233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 / order_date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order ID and purchase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 / age / 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identifiers and demographics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of 7 categories purchased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unit_price / quantity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per unit and units ordered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discount_percent /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applied and net order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/ payment_method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region and payment channel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Post-purchase rating, 1-5 (often missing)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178040" y="1234440"/>
            <a:ext cx="4480560" cy="4709160"/>
          </a:xfrm>
          <a:prstGeom prst="roundRect">
            <a:avLst>
              <a:gd name="adj" fmla="val 2041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Shape 2"/>
          <p:cNvSpPr/>
          <p:nvPr/>
        </p:nvSpPr>
        <p:spPr>
          <a:xfrm>
            <a:off x="7452360" y="1508760"/>
            <a:ext cx="548640" cy="548640"/>
          </a:xfrm>
          <a:prstGeom prst="ellipse">
            <a:avLst/>
          </a:prstGeom>
          <a:solidFill>
            <a:srgbClr val="FDEBD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804" y="1632204"/>
            <a:ext cx="301752" cy="301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236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sourcing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452360" y="26060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dataset file was supplied for this task, and this environment has no internet access to pull a real dataset from Kaggle. A realistic synthetic e-commerce sales dataset was generated instead — with genuine data-quality issues (missing values, duplicates, inconsistent text, wrong types, outliers) built in, so the cleaning work shown next is solving real problems.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452360" y="4800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a real CSV (Kaggle / company data) and re-run the notebook to analyze actual data.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· Task 1 — E-commerce Sales EDA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the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had real quality issues — here's how each was resolved before analysis.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7FAFC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2103120"/>
            <a:ext cx="502920" cy="50292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89" y="221627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202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columns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71600" y="22860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naming across all 14 columns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26480" y="18288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7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6291072" y="2103120"/>
            <a:ext cx="502920" cy="50292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229" y="221627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9202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949440" y="22860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exact duplicate rows dropped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044952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7FA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319272"/>
            <a:ext cx="502920" cy="50292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89" y="3432429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1363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types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371600" y="350215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 → datetime; categories → category dtype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26480" y="3044952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7FA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291072" y="3319272"/>
            <a:ext cx="502920" cy="50292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229" y="3432429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31363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949440" y="350215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casing/whitespace normalized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261104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7FAFC"/>
          </a:solidFill>
          <a:ln/>
        </p:spPr>
      </p:sp>
      <p:sp>
        <p:nvSpPr>
          <p:cNvPr id="25" name="Shape 19"/>
          <p:cNvSpPr/>
          <p:nvPr/>
        </p:nvSpPr>
        <p:spPr>
          <a:xfrm>
            <a:off x="713232" y="4535424"/>
            <a:ext cx="502920" cy="50292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89" y="4648581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435254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values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371600" y="471830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for numeric, mode for categorical (241 + 226 values)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4261104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7FAFC"/>
          </a:solidFill>
          <a:ln/>
        </p:spPr>
      </p:sp>
      <p:sp>
        <p:nvSpPr>
          <p:cNvPr id="30" name="Shape 23"/>
          <p:cNvSpPr/>
          <p:nvPr/>
        </p:nvSpPr>
        <p:spPr>
          <a:xfrm>
            <a:off x="6291072" y="4535424"/>
            <a:ext cx="502920" cy="50292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229" y="4648581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435254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missing ratings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949440" y="471830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as NaN with a rating_missing indicator (511 orders)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48640" y="5477256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7FAFC"/>
          </a:solidFill>
          <a:ln/>
        </p:spPr>
      </p:sp>
      <p:sp>
        <p:nvSpPr>
          <p:cNvPr id="35" name="Shape 27"/>
          <p:cNvSpPr/>
          <p:nvPr/>
        </p:nvSpPr>
        <p:spPr>
          <a:xfrm>
            <a:off x="713232" y="5751576"/>
            <a:ext cx="502920" cy="50292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89" y="5864733"/>
            <a:ext cx="276606" cy="27660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371600" y="556869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outliers (IQR)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1371600" y="593445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ages and 15–40x revenue spikes winsorized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126480" y="5477256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7FAFC"/>
          </a:solidFill>
          <a:ln/>
        </p:spPr>
      </p:sp>
      <p:sp>
        <p:nvSpPr>
          <p:cNvPr id="40" name="Shape 31"/>
          <p:cNvSpPr/>
          <p:nvPr/>
        </p:nvSpPr>
        <p:spPr>
          <a:xfrm>
            <a:off x="6291072" y="5751576"/>
            <a:ext cx="502920" cy="50292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229" y="5864733"/>
            <a:ext cx="276606" cy="27660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949440" y="556869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invalid rows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6949440" y="593445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Biologically implausible ages (&lt;13) removed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· Task 1 — E-commerce Sales EDA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Drives Revenue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by product category — despite fewer orders than Clothing, Electronics leads by a wide margin.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75895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737360"/>
            <a:ext cx="3291840" cy="4480560"/>
          </a:xfrm>
          <a:prstGeom prst="roundRect">
            <a:avLst>
              <a:gd name="adj" fmla="val 2778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41080" y="20574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641080" y="2788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comes from Electronics alone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41080" y="37490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has only ~22% of order volume — high unit price, not order count, drives its lead.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· Task 1 — E-commerce Sales EDA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and Regions Are Balanced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skews slightly toward Electronics/Clothing; revenue is spread evenly across regions.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53949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400800" y="1737360"/>
          <a:ext cx="52578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· Task 1 — E-commerce Sales EDA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Predicts Revenue?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across numeric features — unit price is by far the strongest driver of order revenue.</a:t>
            </a:r>
            <a:endParaRPr lang="en-US" sz="1350" dirty="0"/>
          </a:p>
        </p:txBody>
      </p:sp>
      <p:pic>
        <p:nvPicPr>
          <p:cNvPr id="4" name="Image 0" descr="/home/claude/apexplanet-data-analytics/reports/correlation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91640"/>
            <a:ext cx="51206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69164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63640" y="18288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818120" y="18288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unit price and order revenue — the strongest relationship in the dataset.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035040" y="3264408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63640" y="3401568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818120" y="3401568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quantity and revenue — a moderate, secondary driver.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35040" y="4837176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63640" y="4974336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-0.07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818120" y="4974336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percent has almost no linear relationship with per-order revenue.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· Task 1 — E-commerce Sales EDA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Stable Over Time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across the full 18-month window shows healthy fluctuation, not a seasonal or declining pattern.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110642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· Task 1 — E-commerce Sales EDA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Customers Pay — and Rate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leads payment share; roughly 1 in 10 orders is left unrated.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737360"/>
            <a:ext cx="5166360" cy="205740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766560" y="2011680"/>
            <a:ext cx="594360" cy="594360"/>
          </a:xfrm>
          <a:prstGeom prst="ellipse">
            <a:avLst/>
          </a:prstGeom>
          <a:solidFill>
            <a:srgbClr val="FDEBD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291" y="2145411"/>
            <a:ext cx="326898" cy="3268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43800" y="19933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/ 5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7543800" y="25146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rating (rated orders)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766560" y="297180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 of orders have no rating at all — flagged rather than imputed, since a missing rating is meaningfully different from a bad one.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492240" y="406908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766560" y="4343400"/>
            <a:ext cx="594360" cy="59436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0291" y="4477131"/>
            <a:ext cx="326898" cy="32689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43800" y="43251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51.5%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7543800" y="48463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include a discount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766560" y="53035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 is common but has little effect on per-order revenue (corr. -0.07) — it may be more about conversion than order size.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· Task 1 — E-commerce Sales EDA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exploratory analysis tells us so far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9019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 on revenue, not volume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325880" y="22860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unit price outweighs lower order count — 52% of revenue from ~22% of orders.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291072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03720" y="19019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is the strongest revenue driver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03720" y="22860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 correlation with revenue; quantity and discount play smaller roles.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33649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outliers needed correcting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25880" y="3749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orders were 15–40x normal size — capped via IQR before analysis.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324612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03720" y="33649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 of orders go unrated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03720" y="3749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investigating operationally — shipping mode or payment method may be a factor.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482803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steady, not seasonal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25880" y="5212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data show healthy month-to-month variation without a clear trend.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470916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91072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03720" y="482803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are evenly matched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03720" y="5212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spread across Central/South/North/West/East is within ~9% of each other.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· Task 1 — E-commerce Sales EDA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7FA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Task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59689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49631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GitHub-ready repo: notebook + cleaned dataset + README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22960" y="3200400"/>
            <a:ext cx="365760" cy="36576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282696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18211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 saved to data/processed/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22960" y="3886200"/>
            <a:ext cx="365760" cy="36576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96849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86791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exported charts saved to reports/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22960" y="4572000"/>
            <a:ext cx="365760" cy="36576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65429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455371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log documenting every transformation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263640" y="173736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653796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537960" y="258775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4"/>
          <p:cNvSpPr/>
          <p:nvPr/>
        </p:nvSpPr>
        <p:spPr>
          <a:xfrm>
            <a:off x="6812280" y="244144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Power BI / Tableau dashboard from the cleaned dataset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537960" y="336499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2" name="Text 16"/>
          <p:cNvSpPr/>
          <p:nvPr/>
        </p:nvSpPr>
        <p:spPr>
          <a:xfrm>
            <a:off x="6812280" y="321868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ratings-missing pattern by shipping mode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537960" y="4142232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4" name="Text 18"/>
          <p:cNvSpPr/>
          <p:nvPr/>
        </p:nvSpPr>
        <p:spPr>
          <a:xfrm>
            <a:off x="6812280" y="39959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a real dataset if/when one becomes available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· Task 1 — E-commerce Sales EDA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1050</Words>
  <Application>Microsoft Office PowerPoint</Application>
  <PresentationFormat>Widescreen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Dataset — EDA Walkthrough</dc:title>
  <dc:subject>PptxGenJS Presentation</dc:subject>
  <dc:creator>Apexplanet Data Analytics</dc:creator>
  <cp:lastModifiedBy>kritika kapoor</cp:lastModifiedBy>
  <cp:revision>2</cp:revision>
  <dcterms:created xsi:type="dcterms:W3CDTF">2026-07-02T07:29:31Z</dcterms:created>
  <dcterms:modified xsi:type="dcterms:W3CDTF">2026-07-02T07:38:38Z</dcterms:modified>
</cp:coreProperties>
</file>